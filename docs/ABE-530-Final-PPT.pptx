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98" r:id="rId4"/>
    <p:sldId id="355" r:id="rId5"/>
    <p:sldId id="353" r:id="rId6"/>
    <p:sldId id="354" r:id="rId7"/>
    <p:sldId id="266" r:id="rId8"/>
    <p:sldId id="268" r:id="rId9"/>
    <p:sldId id="269" r:id="rId10"/>
    <p:sldId id="270" r:id="rId11"/>
    <p:sldId id="273" r:id="rId12"/>
    <p:sldId id="356" r:id="rId13"/>
    <p:sldId id="357" r:id="rId14"/>
    <p:sldId id="358" r:id="rId15"/>
    <p:sldId id="360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60478" autoAdjust="0"/>
  </p:normalViewPr>
  <p:slideViewPr>
    <p:cSldViewPr snapToGrid="0">
      <p:cViewPr varScale="1">
        <p:scale>
          <a:sx n="53" d="100"/>
          <a:sy n="53" d="100"/>
        </p:scale>
        <p:origin x="1407" y="4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97900-C55B-2E42-9D9E-55E05EA86B8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C64A9-FF87-1749-B1CC-8A10FE973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61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C4C2AC14-399E-E5CF-6C3D-6D73B7F4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>
            <a:extLst>
              <a:ext uri="{FF2B5EF4-FFF2-40B4-BE49-F238E27FC236}">
                <a16:creationId xmlns:a16="http://schemas.microsoft.com/office/drawing/2014/main" id="{3C5D8C24-826A-AFEF-093A-CB777F5C2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0985F287-F45D-807D-9437-E210660CF3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“Corn productivity depends strongly on Nitrogen availability—it directly affects chlorophyll formation and therefore how plants absorb and reflect light.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Traditionally, Nitrogen is assessed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through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destructive tissue sampling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slow, subjective, and usually detects stress too late.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our study, we leverage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hyperspectral imaging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captures reflectance 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364 different wavelengths per pixel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gives us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non-destructive, high-resolution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way to detect Nitrogen stress much earlier than human observation.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questions we focus on are: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Can hyperspectral data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reliably distinguish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low-nitrogen (N1) from high-nitrogen (N2) leaves?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Where on the leaf are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Nitrogen-driven spectral differences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most pronounced?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Answering these leads to more precise nutrient monitoring and ultimately higher crop efficiency.”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92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06B5880D-CB57-F3E5-B083-ECE232853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>
            <a:extLst>
              <a:ext uri="{FF2B5EF4-FFF2-40B4-BE49-F238E27FC236}">
                <a16:creationId xmlns:a16="http://schemas.microsoft.com/office/drawing/2014/main" id="{8AEFE91B-1116-82CD-1E00-A6699E98F8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B88C55DC-1692-679B-EC69-B05F4C6DE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5092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E7CCD75D-9016-3835-046D-A7D7204E8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>
            <a:extLst>
              <a:ext uri="{FF2B5EF4-FFF2-40B4-BE49-F238E27FC236}">
                <a16:creationId xmlns:a16="http://schemas.microsoft.com/office/drawing/2014/main" id="{FDAE32B3-9B95-8CD1-6886-C86E0CD81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31096338-FFF1-C3C6-A97E-7E443BF9D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objectives span multiple scales — from whole-leaf summaries to pixel-level physiological patterns.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we aim to build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nitrogen-classification models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distinguishing N1 vs N2.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validate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multi-scale pipeline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combining spectral indices, PCA, pixel-level classification, and anatomical segmentation.</a:t>
            </a:r>
          </a:p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identify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spectral biomarkers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especially in red and red-edge regions.</a:t>
            </a:r>
          </a:p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quantify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region-specific responses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across veins, mesophyll, tips, and edges.</a:t>
            </a:r>
          </a:p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benchmark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simple index-based models against machine learning models such as SVM and logistic regression.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layered approach helps us understand both accuracy and the underlying plant physiology.”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265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5E9D0DF2-B473-1876-59E0-05A3A7F7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>
            <a:extLst>
              <a:ext uri="{FF2B5EF4-FFF2-40B4-BE49-F238E27FC236}">
                <a16:creationId xmlns:a16="http://schemas.microsoft.com/office/drawing/2014/main" id="{ACA0483B-F275-5FCD-3A66-BA56A415DF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4790A6F9-E2C6-001F-8D8D-0B3E22E74B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worked 20 low-N and 20 high-N leaves.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captured visible, red-edge, and near-infrared regions where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nitrogen affects reflectance.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highest reflectance we can clearly see is the leaf edge; the lowest reflectance is the midrib.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applied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anatomical segmentation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isolate clean leaf, veins, midrib, mesophyll, leaf tip, and edge since Nitrogen stress may appear in some tissues before others.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computed two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Nitrogen-sensitive vegetation indices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NDVI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based on red vs NIR reflectance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focused on red-edge behavior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 for modeling: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At leaf level → we used average features per leaf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At pixel level → we applied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PCA compression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 regression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produce spatial nitrogen maps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allows us to compare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nitrogen effects.”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006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a5e8b1c275_0_3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a5e8b1c275_0_34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the specific formula we used to compute NDVI and OCAR.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apply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leaf mask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the leaf is shown in color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already see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 variation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The middle area of the leaf has higher NDVI and OCAR values.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The leaf tip and edges show lower values.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patterns are consistent with nitrogen levels — healthy tissue usually has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chlorophyll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reflectance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NIR.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tells us that spectral indices can capture nitrogen-related stress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leaf, not just an overall leaf value.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803" name="Google Shape;803;g3a5e8b1c275_0_34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a5e8b1c275_0_3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a5e8b1c275_0_34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see both indices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clearly separate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N1 and N2 leaves statistically.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nitrogen increases chlorophyll, causing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greater absorption in red wavelengths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which results in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 NDVI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N2 leaves.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OCAR shows a similar trend — both indices have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p-values &lt; 0.0001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meaning the differences are highly significant.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we also observe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 pixel-to-pixel variability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inside a single leaf → averaging it may hide early stress signals.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while index-based detection works well for broad differences, it motivates us to go further with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learning and spatial analysis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818" name="Google Shape;818;g3a5e8b1c275_0_34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a5e8b1c275_0_3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a5e8b1c275_0_34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we only used the NDVI and OCAR, at the leaf level.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70% for training and 30% for testing.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just two features, logistic regression already achieved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92% accuracy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confusion matrix, we can see that there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one misclassified leaf.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nitrogen stress already affects leaf reflectance strongly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indices work well.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this method assumes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 leaf is the same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reality,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itrogen stress often starts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locally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we mentioned previously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for example 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leaf edges or tips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next, Sourav will move forward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 machine learning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 P(N2) maps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“the probability maps showing where high nitrogen areas appear on the leaf”,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detect those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fine-scale nitrogen patterns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accurately.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29" name="Google Shape;829;g3a5e8b1c275_0_34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a5e8b1c275_0_1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a5e8b1c275_0_19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br>
              <a:rPr lang="en-IN" dirty="0"/>
            </a:br>
            <a:endParaRPr lang="en-IN" dirty="0"/>
          </a:p>
          <a:p>
            <a:r>
              <a:rPr lang="en-IN" b="1" dirty="0"/>
              <a:t>Input Data</a:t>
            </a:r>
          </a:p>
          <a:p>
            <a:r>
              <a:rPr lang="en-IN" b="1" dirty="0"/>
              <a:t>“We start by computing the mean spectrum of all leaf pixels after segmentation.</a:t>
            </a:r>
            <a:br>
              <a:rPr lang="en-IN" b="1" dirty="0"/>
            </a:br>
            <a:r>
              <a:rPr lang="en-IN" b="1" dirty="0"/>
              <a:t>This gives us a matrix of 40 leaves by 364 spectral bands. So instead of </a:t>
            </a:r>
            <a:r>
              <a:rPr lang="en-IN" b="1" dirty="0" err="1"/>
              <a:t>analyzing</a:t>
            </a:r>
            <a:r>
              <a:rPr lang="en-IN" b="1" dirty="0"/>
              <a:t> hundreds of thousands of pixels, we summarize each leaf into a single reflectance curve.”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PCA Results</a:t>
            </a:r>
          </a:p>
          <a:p>
            <a:r>
              <a:rPr lang="en-IN" b="1" dirty="0"/>
              <a:t>“We then run PCA with 3 components. The explained variance tells us a lot:</a:t>
            </a:r>
            <a:br>
              <a:rPr lang="en-IN" b="1" dirty="0"/>
            </a:br>
            <a:r>
              <a:rPr lang="en-IN" b="1" dirty="0"/>
              <a:t>PC1 alone explains about 83% of the variation in the leaf spectra, PC2 explains around 16%, and PC3 is negligible. This means that almost all of the meaningful spectral variability across leaves is captured by just the first two components.”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Separation of Treatments</a:t>
            </a:r>
          </a:p>
          <a:p>
            <a:r>
              <a:rPr lang="en-IN" b="1" dirty="0"/>
              <a:t>N1 leaves tend to cluster toward lower PC1 values, and N2 leaves toward higher PC1.</a:t>
            </a:r>
            <a:br>
              <a:rPr lang="en-IN" b="1" dirty="0"/>
            </a:br>
            <a:r>
              <a:rPr lang="en-IN" b="1" dirty="0"/>
              <a:t>This suggests that nitrogen status has a strong influence on the overall spectral shape.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Which Wavelengths Matter?</a:t>
            </a:r>
          </a:p>
          <a:p>
            <a:r>
              <a:rPr lang="en-IN" b="1" dirty="0"/>
              <a:t>“The PC1 loading plot helps us interpret what spectral regions contribute most.</a:t>
            </a:r>
            <a:br>
              <a:rPr lang="en-IN" b="1" dirty="0"/>
            </a:br>
            <a:r>
              <a:rPr lang="en-IN" b="1" dirty="0"/>
              <a:t>We see strong peaks in the red and red-edge regions, around 680–750 nm. physiological expectations:- nitrogen affects chlorophyll content, and chlorophyll strongly absorbs in the red and transitions sharply in the red-edge region.</a:t>
            </a:r>
            <a:br>
              <a:rPr lang="en-IN" dirty="0"/>
            </a:br>
            <a:br>
              <a:rPr lang="en-IN" dirty="0"/>
            </a:br>
            <a:endParaRPr dirty="0"/>
          </a:p>
        </p:txBody>
      </p:sp>
      <p:sp>
        <p:nvSpPr>
          <p:cNvPr id="838" name="Google Shape;838;g3a5e8b1c275_0_19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a5e8b1c275_0_3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a5e8b1c275_0_36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b="1" dirty="0"/>
              <a:t>“This slide summarizes our leaf-level machine learning models for distinguishing N1 and N2 nitrogen treatments based on simple spectral features.”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Features Used</a:t>
            </a:r>
          </a:p>
          <a:p>
            <a:r>
              <a:rPr lang="en-IN" dirty="0"/>
              <a:t>“We used five interpretable leaf-level features extracted from the hyperspectral data:</a:t>
            </a:r>
          </a:p>
          <a:p>
            <a:r>
              <a:rPr lang="en-IN" dirty="0"/>
              <a:t>mean NDVI,</a:t>
            </a:r>
          </a:p>
          <a:p>
            <a:r>
              <a:rPr lang="en-IN" dirty="0"/>
              <a:t>mean OCAR,</a:t>
            </a:r>
          </a:p>
          <a:p>
            <a:r>
              <a:rPr lang="en-IN" dirty="0"/>
              <a:t>reflectance at 550 nm,</a:t>
            </a:r>
          </a:p>
          <a:p>
            <a:r>
              <a:rPr lang="en-IN" dirty="0"/>
              <a:t>680 nm,</a:t>
            </a:r>
          </a:p>
          <a:p>
            <a:r>
              <a:rPr lang="en-IN" dirty="0"/>
              <a:t>and 800 nm.</a:t>
            </a:r>
          </a:p>
          <a:p>
            <a:r>
              <a:rPr lang="en-IN" dirty="0"/>
              <a:t>These indices and bands represent chlorophyll absorption, red-edge response, and visible reflectance—so they're physiologically meaningful and lightweight for </a:t>
            </a:r>
            <a:r>
              <a:rPr lang="en-IN" dirty="0" err="1"/>
              <a:t>modeling</a:t>
            </a:r>
            <a:r>
              <a:rPr lang="en-IN" dirty="0"/>
              <a:t>.”</a:t>
            </a:r>
          </a:p>
          <a:p>
            <a:br>
              <a:rPr lang="en-IN" dirty="0"/>
            </a:br>
            <a:endParaRPr lang="en-IN" dirty="0"/>
          </a:p>
          <a:p>
            <a:br>
              <a:rPr lang="en-IN" b="1" dirty="0"/>
            </a:br>
            <a:r>
              <a:rPr lang="en-IN" b="1" dirty="0"/>
              <a:t>Across these, SVM achieved the highest mean CV accuracy at 0.85 ± 0.09, indicating strong separation capability even with low-dimensional feature inputs.”</a:t>
            </a:r>
            <a:endParaRPr lang="en-IN" dirty="0"/>
          </a:p>
          <a:p>
            <a:r>
              <a:rPr lang="en-IN" b="1" dirty="0"/>
              <a:t>“Logistic Regression and Random Forest performed comparably, around 0.80.”</a:t>
            </a:r>
            <a:endParaRPr lang="en-IN" dirty="0"/>
          </a:p>
          <a:p>
            <a:r>
              <a:rPr lang="en-IN" b="1" dirty="0"/>
              <a:t>“PLS-DA, performed slightly lower with ~0.70 test accuracy.”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ROC-AUC Analysis</a:t>
            </a:r>
          </a:p>
          <a:p>
            <a:r>
              <a:rPr lang="en-IN" b="1" dirty="0"/>
              <a:t>“Logistic Regression delivered the best ROC-AUC score of 0.96, outperforming even SVM in terms of ranking ability.</a:t>
            </a:r>
            <a:br>
              <a:rPr lang="en-IN" b="1" dirty="0"/>
            </a:br>
            <a:r>
              <a:rPr lang="en-IN" b="1" dirty="0"/>
              <a:t>PLS-DA achieved an AUC of 0.88, while SVM showed a lower AUC of 0.72, likely due to overfitting on such a small dataset.”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Interpretability: Feature Importance</a:t>
            </a:r>
          </a:p>
          <a:p>
            <a:r>
              <a:rPr lang="en-IN" b="1" dirty="0"/>
              <a:t>“Random Forest feature importance indicates that OCAR and NDVI are the strongest predictors, followed by reflectance at 680 nm—consistent with chlorophyll sensitivity and red-edge </a:t>
            </a:r>
            <a:r>
              <a:rPr lang="en-IN" b="1" dirty="0" err="1"/>
              <a:t>behavior</a:t>
            </a:r>
            <a:r>
              <a:rPr lang="en-IN" b="1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Confusion Matrix Insight</a:t>
            </a:r>
          </a:p>
          <a:p>
            <a:r>
              <a:rPr lang="en-IN" b="1" dirty="0"/>
              <a:t>“For Logistic Regression, the confusion matrix shows only one misclassified leaf out of ten in this fold, 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Key Takeaway</a:t>
            </a:r>
          </a:p>
          <a:p>
            <a:r>
              <a:rPr lang="en-IN" b="1" dirty="0"/>
              <a:t>“Overall, all models correctly distinguish nitrogen treatments using just five leaf-level features.</a:t>
            </a:r>
            <a:br>
              <a:rPr lang="en-IN" b="1" dirty="0"/>
            </a:br>
            <a:r>
              <a:rPr lang="en-IN" b="1" dirty="0"/>
              <a:t>SVM provides the highest CV accuracy, while Logistic Regression gives the strongest AUC</a:t>
            </a:r>
            <a:endParaRPr dirty="0"/>
          </a:p>
        </p:txBody>
      </p:sp>
      <p:sp>
        <p:nvSpPr>
          <p:cNvPr id="862" name="Google Shape;862;g3a5e8b1c275_0_36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31720EF7-461C-E6FD-323B-7BA4EC32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a5e8b1c275_0_3654:notes">
            <a:extLst>
              <a:ext uri="{FF2B5EF4-FFF2-40B4-BE49-F238E27FC236}">
                <a16:creationId xmlns:a16="http://schemas.microsoft.com/office/drawing/2014/main" id="{EC9A596D-550D-DA4F-915B-AD25B3074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a5e8b1c275_0_3654:notes">
            <a:extLst>
              <a:ext uri="{FF2B5EF4-FFF2-40B4-BE49-F238E27FC236}">
                <a16:creationId xmlns:a16="http://schemas.microsoft.com/office/drawing/2014/main" id="{559712A6-E97E-8B69-0066-39FE3C025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dirty="0"/>
              <a:t>“This slide shows how nitrogen differences appear at the pixel level of the hyperspectral images.</a:t>
            </a:r>
          </a:p>
          <a:p>
            <a:r>
              <a:rPr lang="en-IN" dirty="0"/>
              <a:t>using PCA-compressed pixel spectra, a logistic regression classifier achieves </a:t>
            </a:r>
            <a:r>
              <a:rPr lang="en-IN" b="1" dirty="0"/>
              <a:t>around 88% accuracy</a:t>
            </a:r>
            <a:r>
              <a:rPr lang="en-IN" dirty="0"/>
              <a:t> in separating N1 vs N2 pixels. This confirms that even individual pixels have strong nitrogen signals.</a:t>
            </a:r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b="1" dirty="0"/>
              <a:t>pixel-level probability heatmap</a:t>
            </a:r>
            <a:r>
              <a:rPr lang="en-IN" dirty="0"/>
              <a:t> on the top right shows how nitrogen predictions vary across a single leaf. Warmer </a:t>
            </a:r>
            <a:r>
              <a:rPr lang="en-IN" dirty="0" err="1"/>
              <a:t>colors</a:t>
            </a:r>
            <a:r>
              <a:rPr lang="en-IN" dirty="0"/>
              <a:t> indicate higher nitrogen probability. You can see clear </a:t>
            </a:r>
            <a:r>
              <a:rPr lang="en-IN" b="1" dirty="0"/>
              <a:t>spatial heterogeneity</a:t>
            </a:r>
            <a:r>
              <a:rPr lang="en-IN" dirty="0"/>
              <a:t>—some regions are consistently higher while others are lower  within the same leaf.</a:t>
            </a:r>
          </a:p>
          <a:p>
            <a:endParaRPr lang="en-IN" dirty="0"/>
          </a:p>
          <a:p>
            <a:r>
              <a:rPr lang="en-IN" dirty="0"/>
              <a:t>The second figure, the </a:t>
            </a:r>
            <a:r>
              <a:rPr lang="en-IN" b="1" dirty="0"/>
              <a:t>vertical nitrogen gradient plot</a:t>
            </a:r>
            <a:r>
              <a:rPr lang="en-IN" dirty="0"/>
              <a:t>, shows how nitrogen probability changes from the leaf base to the tip. There is a </a:t>
            </a:r>
            <a:r>
              <a:rPr lang="en-IN" b="1" dirty="0"/>
              <a:t>systematic decline</a:t>
            </a:r>
            <a:r>
              <a:rPr lang="en-IN" dirty="0"/>
              <a:t>, meaning the base tends to have higher nitrogen than the tip. This aligns with known physiological nitrogen transport patterns.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862" name="Google Shape;862;g3a5e8b1c275_0_3654:notes">
            <a:extLst>
              <a:ext uri="{FF2B5EF4-FFF2-40B4-BE49-F238E27FC236}">
                <a16:creationId xmlns:a16="http://schemas.microsoft.com/office/drawing/2014/main" id="{A3BDF92E-2580-C121-921F-C219841101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1960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D1841D18-B134-3D40-CC2F-7152CD081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a5e8b1c275_0_3654:notes">
            <a:extLst>
              <a:ext uri="{FF2B5EF4-FFF2-40B4-BE49-F238E27FC236}">
                <a16:creationId xmlns:a16="http://schemas.microsoft.com/office/drawing/2014/main" id="{7D1652C3-E7E5-5DB5-FB23-239EB05ED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a5e8b1c275_0_3654:notes">
            <a:extLst>
              <a:ext uri="{FF2B5EF4-FFF2-40B4-BE49-F238E27FC236}">
                <a16:creationId xmlns:a16="http://schemas.microsoft.com/office/drawing/2014/main" id="{2DC65843-F89B-40C4-ED75-47DA2DFBB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b="1" dirty="0"/>
              <a:t>PCA Scatter Plot + K-Means (K=2)</a:t>
            </a:r>
          </a:p>
          <a:p>
            <a:r>
              <a:rPr lang="en-IN" dirty="0"/>
              <a:t>“This scatter plot shows </a:t>
            </a:r>
            <a:r>
              <a:rPr lang="en-IN" b="1" dirty="0"/>
              <a:t>every pixel</a:t>
            </a:r>
            <a:r>
              <a:rPr lang="en-IN" dirty="0"/>
              <a:t> from the entire dataset after reducing its 364-band spectrum to the first two principal components.</a:t>
            </a:r>
            <a:br>
              <a:rPr lang="en-IN" dirty="0"/>
            </a:br>
            <a:r>
              <a:rPr lang="en-IN" dirty="0"/>
              <a:t>PC1 alone explains 78% of the spectral variation; PC2 adds another ~17%.</a:t>
            </a:r>
          </a:p>
          <a:p>
            <a:r>
              <a:rPr lang="en-IN" dirty="0"/>
              <a:t>When we run </a:t>
            </a:r>
            <a:r>
              <a:rPr lang="en-IN" b="1" dirty="0"/>
              <a:t>K-Means with K=2</a:t>
            </a:r>
            <a:r>
              <a:rPr lang="en-IN" dirty="0"/>
              <a:t>, we see two very distinct pixel populations.</a:t>
            </a:r>
            <a:br>
              <a:rPr lang="en-IN" dirty="0"/>
            </a:br>
            <a:r>
              <a:rPr lang="en-IN" dirty="0"/>
              <a:t>The </a:t>
            </a:r>
            <a:r>
              <a:rPr lang="en-IN" b="1" dirty="0"/>
              <a:t>left cluster</a:t>
            </a:r>
            <a:r>
              <a:rPr lang="en-IN" dirty="0"/>
              <a:t> (dark blue) contains pixels with lower PC1 values, typically representing mesophyll regions or stressed/low-N zones.</a:t>
            </a:r>
            <a:br>
              <a:rPr lang="en-IN" dirty="0"/>
            </a:br>
            <a:r>
              <a:rPr lang="en-IN" dirty="0"/>
              <a:t>The </a:t>
            </a:r>
            <a:r>
              <a:rPr lang="en-IN" b="1" dirty="0"/>
              <a:t>right cluster</a:t>
            </a:r>
            <a:r>
              <a:rPr lang="en-IN" dirty="0"/>
              <a:t> (cyan) contains pixels with higher PC1 values, often corresponding to veins, midrib, or nitrogen-rich tissue.</a:t>
            </a:r>
          </a:p>
          <a:p>
            <a:r>
              <a:rPr lang="en-IN" dirty="0"/>
              <a:t>The important point is:</a:t>
            </a:r>
            <a:br>
              <a:rPr lang="en-IN" dirty="0"/>
            </a:br>
            <a:r>
              <a:rPr lang="en-IN" b="1" dirty="0"/>
              <a:t>Even without nitrogen labels, the pixels naturally separate into two major spectral groups.</a:t>
            </a:r>
            <a:br>
              <a:rPr lang="en-IN" dirty="0"/>
            </a:br>
            <a:r>
              <a:rPr lang="en-IN" dirty="0"/>
              <a:t>This means nitrogen status and anatomical structure are inherently encoded in the hyperspectral signatures.”</a:t>
            </a:r>
          </a:p>
          <a:p>
            <a:endParaRPr lang="en-IN" dirty="0"/>
          </a:p>
        </p:txBody>
      </p:sp>
      <p:sp>
        <p:nvSpPr>
          <p:cNvPr id="862" name="Google Shape;862;g3a5e8b1c275_0_3654:notes">
            <a:extLst>
              <a:ext uri="{FF2B5EF4-FFF2-40B4-BE49-F238E27FC236}">
                <a16:creationId xmlns:a16="http://schemas.microsoft.com/office/drawing/2014/main" id="{09614492-FD29-88C7-B92A-B4078BA29D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2740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9CD7767E-4C57-8D61-E2C2-1461B9D61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a5e8b1c275_0_3654:notes">
            <a:extLst>
              <a:ext uri="{FF2B5EF4-FFF2-40B4-BE49-F238E27FC236}">
                <a16:creationId xmlns:a16="http://schemas.microsoft.com/office/drawing/2014/main" id="{FD4F2528-0979-8ED4-0755-E976E79FC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a5e8b1c275_0_3654:notes">
            <a:extLst>
              <a:ext uri="{FF2B5EF4-FFF2-40B4-BE49-F238E27FC236}">
                <a16:creationId xmlns:a16="http://schemas.microsoft.com/office/drawing/2014/main" id="{B322EFBA-68BC-FCEF-3B05-88EB449F8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dirty="0"/>
              <a:t>We found that nitrogen treatments were separable at </a:t>
            </a:r>
            <a:r>
              <a:rPr lang="en-IN" b="1" dirty="0"/>
              <a:t>multiple scales</a:t>
            </a:r>
            <a:r>
              <a:rPr lang="en-IN" dirty="0"/>
              <a:t>. Both leaf-level and pixel-level analyses clearly distinguished N1 from N2.</a:t>
            </a:r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b="1" dirty="0"/>
              <a:t>top-right plot</a:t>
            </a:r>
            <a:r>
              <a:rPr lang="en-IN" dirty="0"/>
              <a:t> shows the </a:t>
            </a:r>
            <a:r>
              <a:rPr lang="en-IN" i="1" dirty="0"/>
              <a:t>first-derivative mean spectra</a:t>
            </a:r>
            <a:r>
              <a:rPr lang="en-IN" dirty="0"/>
              <a:t> for N1 and N2. The biggest separation occurs in the </a:t>
            </a:r>
            <a:r>
              <a:rPr lang="en-IN" b="1" dirty="0"/>
              <a:t>red-edge region (around 700–750 nm)</a:t>
            </a:r>
            <a:r>
              <a:rPr lang="en-IN" dirty="0"/>
              <a:t>. This tells us that this wavelength range is the most sensitive indicator of nitrogen status.</a:t>
            </a:r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b="1" dirty="0"/>
              <a:t>bottom-right 3D plot</a:t>
            </a:r>
            <a:r>
              <a:rPr lang="en-IN" dirty="0"/>
              <a:t> shows the </a:t>
            </a:r>
            <a:r>
              <a:rPr lang="en-IN" i="1" dirty="0"/>
              <a:t>autoencoder latent space</a:t>
            </a:r>
            <a:r>
              <a:rPr lang="en-IN" dirty="0"/>
              <a:t>. Even though the model was trained without labels, we still see </a:t>
            </a:r>
            <a:r>
              <a:rPr lang="en-IN" b="1" dirty="0"/>
              <a:t>two partially separated clusters</a:t>
            </a:r>
            <a:r>
              <a:rPr lang="en-IN" dirty="0"/>
              <a:t> for N1 and N2. That means nitrogen stress produces spectral differences strong enough to be captured by an unsupervised model.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2" name="Google Shape;862;g3a5e8b1c275_0_3654:notes">
            <a:extLst>
              <a:ext uri="{FF2B5EF4-FFF2-40B4-BE49-F238E27FC236}">
                <a16:creationId xmlns:a16="http://schemas.microsoft.com/office/drawing/2014/main" id="{6890AAA6-86DA-D531-8D77-311E563671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3000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C34506B8-921A-ACCE-3593-6EE05AEDF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a5e8b1c275_0_3654:notes">
            <a:extLst>
              <a:ext uri="{FF2B5EF4-FFF2-40B4-BE49-F238E27FC236}">
                <a16:creationId xmlns:a16="http://schemas.microsoft.com/office/drawing/2014/main" id="{B6BCCFA2-6E83-2A81-D509-2BDFD98A2D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a5e8b1c275_0_3654:notes">
            <a:extLst>
              <a:ext uri="{FF2B5EF4-FFF2-40B4-BE49-F238E27FC236}">
                <a16:creationId xmlns:a16="http://schemas.microsoft.com/office/drawing/2014/main" id="{40D78C33-8090-CE0C-A425-5A2E61D61B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dirty="0"/>
              <a:t>Our analysis shows that hyperspectral imaging can clearly separate nitrogen treatments at both leaf and pixel scales. The pixel model reached </a:t>
            </a:r>
            <a:r>
              <a:rPr lang="en-IN" b="1" dirty="0"/>
              <a:t>~88% accuracy</a:t>
            </a:r>
            <a:r>
              <a:rPr lang="en-IN" dirty="0"/>
              <a:t>, and leaf-level nitrogen scores were significantly higher for N2. The </a:t>
            </a:r>
            <a:r>
              <a:rPr lang="en-IN" b="1" dirty="0"/>
              <a:t>red-edge region (680–750 nm)</a:t>
            </a:r>
            <a:r>
              <a:rPr lang="en-IN" dirty="0"/>
              <a:t> was the strongest nitrogen indicator. We also found a consistent </a:t>
            </a:r>
            <a:r>
              <a:rPr lang="en-IN" b="1" dirty="0"/>
              <a:t>base-to-tip nitrogen decline</a:t>
            </a:r>
            <a:r>
              <a:rPr lang="en-IN" dirty="0"/>
              <a:t>. Unsupervised clustering independently revealed treatment differences, meeting the project’s goal of confirming nitrogen-driven spectral structure using both supervised and unsupervised methods.</a:t>
            </a:r>
          </a:p>
        </p:txBody>
      </p:sp>
      <p:sp>
        <p:nvSpPr>
          <p:cNvPr id="862" name="Google Shape;862;g3a5e8b1c275_0_3654:notes">
            <a:extLst>
              <a:ext uri="{FF2B5EF4-FFF2-40B4-BE49-F238E27FC236}">
                <a16:creationId xmlns:a16="http://schemas.microsoft.com/office/drawing/2014/main" id="{D17A3551-54FA-45F0-C52D-EDB3833757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201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3D29-EB79-5F6E-B6AE-44678074D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66404-7F26-DFCF-94EF-285161402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B268F-B5AF-3D53-E2FA-043420E8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496E0-CA30-0726-1485-6602626BF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856CA-F4D1-78EA-E8AB-303739BE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67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1EC0-41CE-2EA6-3748-8C025F4E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D89B5-B8EE-1C1E-81AE-4ED074CD0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58102-EABC-DDCC-0E91-4262EAE3E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B81EA-C36F-4794-BEA3-BF67BC0D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7D9BD-9EF9-2584-0B2D-03B43A146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9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E8859-6286-6247-31CB-6C68198D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B145F-4C79-B4D4-5C28-BF895A215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D8FD2-BF4B-35D6-9904-07C64229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3D5D6-768F-B00E-3A15-ABBBCDF73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3D0AF-2594-B434-2356-8FB90B29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99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8702D-F97C-73CA-0AA1-43470C8B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9227F-9DFC-E226-302A-6E314D5C8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4B894-3DB4-7408-5E9F-CB4EFAB27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A0917-9D3D-49BF-01BC-8AE26C5E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81A69-28F8-E327-6BB3-93483266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0DF04-C407-6CC6-9235-76E3FE95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761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4D91-F98E-EF38-41B8-94DE413D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65E77-E486-75AE-D659-05E2FE27D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B7870-3492-A820-D2E4-AF01BE048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65BA8-02CB-5F43-E0B0-CE39B350E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C8D12-15A0-4A70-34F4-A1C59BDC56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E55100-95E3-EAD6-A53E-E8ADD0B1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E9D4BF-F937-D446-095F-49EF7CEA0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17E3ED-4BA0-D0FD-7C98-C4C1F2585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183EA-3DE3-507D-7BF9-B78B9CD0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81B3F-47A6-FCB6-BB59-B7BA05284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C260A-0A5D-FAEF-2236-010AABE3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4E0B9-30B3-49E7-0093-674A697D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6EFB25-57DF-9AE8-2E48-200CA21A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322238-23B3-BF17-7386-E28C813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DF021-75D0-88B9-D269-CB2DB6B2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54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C4C9-87A3-A115-4B86-9C932BCD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F7C73-33C0-23EA-A10A-572770188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BB6B2-822F-56AF-2F73-C8B1F32C7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8C8E9-E1A8-6F77-DBD7-4165C72D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85BC2-865F-2577-610E-1D936A44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BEE5F-7A39-E2B1-8E12-15DE68ED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11AE-0DFF-FAAC-5F92-CC11E458B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20FEEB-7E8D-9DCA-CC77-F8D52AB25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EA99C-06B5-E604-AF76-35D26F3E2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09147-F492-5CB0-9B36-7A933C60E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D23D9-2498-408D-FAEE-C3014A23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896BA-8E26-D8DA-FD26-91C2403E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21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CBC2-819B-064D-714B-3930E030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9FBD6-3B9D-D5E7-08D9-347F027A4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5C162-E0F9-0A7A-84C1-E99FA25A3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17C6F-25BD-DC16-8C31-1F07DAC7E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003BA-A21E-4B42-CFCE-822C0345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9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90858A-0D23-4BCA-04EA-117C9169C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CC9D4-1304-71BB-BD2D-825F45E57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465A2-A2F6-9834-A67C-89B4FBC3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78D1D-405E-B4AB-0C4E-86A9C4F59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381F7-EED0-78D5-947C-9CAD49D06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34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80403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py with Photos">
  <p:cSld name="Copy with Pho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>
            <a:spLocks noGrp="1"/>
          </p:cNvSpPr>
          <p:nvPr>
            <p:ph type="pic" idx="2"/>
          </p:nvPr>
        </p:nvSpPr>
        <p:spPr>
          <a:xfrm>
            <a:off x="468087" y="1543325"/>
            <a:ext cx="5862679" cy="20555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6615761" y="1543322"/>
            <a:ext cx="5129927" cy="4307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468085" y="385004"/>
            <a:ext cx="11266715" cy="589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>
            <a:spLocks noGrp="1"/>
          </p:cNvSpPr>
          <p:nvPr>
            <p:ph type="pic" idx="3"/>
          </p:nvPr>
        </p:nvSpPr>
        <p:spPr>
          <a:xfrm>
            <a:off x="3486578" y="3795306"/>
            <a:ext cx="2844188" cy="20555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Google Shape;46;p5"/>
          <p:cNvSpPr>
            <a:spLocks noGrp="1"/>
          </p:cNvSpPr>
          <p:nvPr>
            <p:ph type="pic" idx="4"/>
          </p:nvPr>
        </p:nvSpPr>
        <p:spPr>
          <a:xfrm>
            <a:off x="468087" y="3795304"/>
            <a:ext cx="2844188" cy="205559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5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  <a:defRPr sz="2000">
                <a:solidFill>
                  <a:srgbClr val="A5A5A5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8" name="Google Shape;48;p5" descr="Purdue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1" y="6269786"/>
            <a:ext cx="2296887" cy="30835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 txBox="1">
            <a:spLocks noGrp="1"/>
          </p:cNvSpPr>
          <p:nvPr>
            <p:ph type="sldNum" idx="12"/>
          </p:nvPr>
        </p:nvSpPr>
        <p:spPr>
          <a:xfrm>
            <a:off x="10267952" y="6290434"/>
            <a:ext cx="14668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08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B5EC9-0701-2811-B0D9-9A6B5D1A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ACADE-6C98-FF73-471E-6DDD7C3E5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34B81-8517-7C7F-BAEF-C718F6D29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82CEF-5954-0E67-B02F-02A60DE1D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D4644-13C2-9A83-761B-92EDF87FB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4D889-0596-A44D-A722-995C453C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2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EAF5-2F0E-0FD3-6CED-191C22389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383"/>
            <a:ext cx="9144000" cy="1322817"/>
          </a:xfrm>
        </p:spPr>
        <p:txBody>
          <a:bodyPr>
            <a:noAutofit/>
          </a:bodyPr>
          <a:lstStyle/>
          <a:p>
            <a:r>
              <a:rPr lang="en-IN" sz="4400">
                <a:latin typeface="Calibri" panose="020F0502020204030204" pitchFamily="34" charset="0"/>
                <a:cs typeface="Calibri" panose="020F0502020204030204" pitchFamily="34" charset="0"/>
              </a:rPr>
              <a:t>Hyperspectral Imaging for Nitrogen</a:t>
            </a:r>
            <a:br>
              <a:rPr lang="en-IN" sz="440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4400">
                <a:latin typeface="Calibri" panose="020F0502020204030204" pitchFamily="34" charset="0"/>
                <a:cs typeface="Calibri" panose="020F0502020204030204" pitchFamily="34" charset="0"/>
              </a:rPr>
              <a:t>Status Classification in Corn Leaves</a:t>
            </a:r>
            <a:endParaRPr lang="en-US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560B3-B22A-61FF-9C6B-9B42E8672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775" y="1729968"/>
            <a:ext cx="6899189" cy="809324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</a:rPr>
              <a:t>A Multi-Scale Analysis Combining Spectral Indices,</a:t>
            </a:r>
            <a:br>
              <a:rPr lang="en-IN">
                <a:solidFill>
                  <a:schemeClr val="accent1"/>
                </a:solidFill>
              </a:rPr>
            </a:br>
            <a:r>
              <a:rPr lang="en-IN">
                <a:solidFill>
                  <a:schemeClr val="accent1"/>
                </a:solidFill>
              </a:rPr>
              <a:t>Machine Learning, and Anatomical Segmentation</a:t>
            </a:r>
            <a:endParaRPr lang="en-US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close-up of a leaf&#10;&#10;AI-generated content may be incorrect.">
            <a:extLst>
              <a:ext uri="{FF2B5EF4-FFF2-40B4-BE49-F238E27FC236}">
                <a16:creationId xmlns:a16="http://schemas.microsoft.com/office/drawing/2014/main" id="{F9CB8DE7-E83E-BAFB-18CA-7C1D46DB6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632" y="2669060"/>
            <a:ext cx="6023394" cy="28895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D04D8E-FCF3-A35F-1C79-BBADE3CDA8F4}"/>
              </a:ext>
            </a:extLst>
          </p:cNvPr>
          <p:cNvSpPr txBox="1"/>
          <p:nvPr/>
        </p:nvSpPr>
        <p:spPr>
          <a:xfrm>
            <a:off x="3768811" y="5647038"/>
            <a:ext cx="3373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Jingbo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Yue</a:t>
            </a:r>
          </a:p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Sourav Mohapatra</a:t>
            </a:r>
          </a:p>
        </p:txBody>
      </p:sp>
    </p:spTree>
    <p:extLst>
      <p:ext uri="{BB962C8B-B14F-4D97-AF65-F5344CB8AC3E}">
        <p14:creationId xmlns:p14="http://schemas.microsoft.com/office/powerpoint/2010/main" val="418483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-390012" y="-19987"/>
            <a:ext cx="7161200" cy="765600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</a:rPr>
              <a:t>Contents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B60105-80AE-9D47-1CB5-515316A99046}"/>
              </a:ext>
            </a:extLst>
          </p:cNvPr>
          <p:cNvSpPr txBox="1">
            <a:spLocks/>
          </p:cNvSpPr>
          <p:nvPr/>
        </p:nvSpPr>
        <p:spPr>
          <a:xfrm>
            <a:off x="1126129" y="1548320"/>
            <a:ext cx="8536043" cy="61123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609585" lvl="0" indent="-457189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MATERIALS AND METHODS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RESULTS AND DISCUSSION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KEY FINDINGS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CONCLUSIONS</a:t>
            </a:r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A0149-FF70-C9F4-0A8C-F2963A976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b="1" smtClean="0"/>
              <a:pPr/>
              <a:t>1</a:t>
            </a:fld>
            <a:endParaRPr lang="en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81D20B43-0F52-774C-2A9C-12B9F7C9A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C5251ED1-49F0-851F-82DD-CD95CE3281D2}"/>
              </a:ext>
            </a:extLst>
          </p:cNvPr>
          <p:cNvSpPr/>
          <p:nvPr/>
        </p:nvSpPr>
        <p:spPr>
          <a:xfrm>
            <a:off x="-327381" y="0"/>
            <a:ext cx="7161200" cy="508502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</a:rPr>
              <a:t>Introduction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DF24BC8-9BC9-E237-6681-735DB7E20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653" y="619547"/>
            <a:ext cx="11826558" cy="30760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Nitrogen is a key nutrient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controlling corn growth, chlorophyll formation, and canopy reflectance.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nitrogen assessment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(visual scouting, tissue sampling) is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subjective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often detects stress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late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Hyperspectral imaging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non-destructive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pixel-level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of leaf physiology across hundreds of wavelengths.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dataset captures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reflectance across 364 spectral bands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(≈400–1000 nm), enabling fine-grained analysis of nitrogen stress signatures.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“Given hyperspectral images of corn leaves under N1 (low N) and N2 (high N) conditions: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reliably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 N1 vs N2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on the leaf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/ nitrogen differences most pronounced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pPr marL="152396" indent="0">
              <a:lnSpc>
                <a:spcPct val="15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91A5C0-B6BC-9678-32D0-A5A894892E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b="1" smtClean="0"/>
              <a:pPr/>
              <a:t>2</a:t>
            </a:fld>
            <a:endParaRPr lang="e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6A202-7B7E-FFB2-B3C8-1B4BA1C62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8" y="4049133"/>
            <a:ext cx="6416101" cy="2189320"/>
          </a:xfrm>
          <a:prstGeom prst="rect">
            <a:avLst/>
          </a:prstGeom>
        </p:spPr>
      </p:pic>
      <p:pic>
        <p:nvPicPr>
          <p:cNvPr id="17" name="Google Shape;773;p73">
            <a:extLst>
              <a:ext uri="{FF2B5EF4-FFF2-40B4-BE49-F238E27FC236}">
                <a16:creationId xmlns:a16="http://schemas.microsoft.com/office/drawing/2014/main" id="{CEE2D6EA-106D-5DF5-2486-C5EB02872A1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940" y="4049133"/>
            <a:ext cx="4861999" cy="25219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984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6F5DC0C6-146F-2E2F-321D-C26B5C2D8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ACE28783-3CB7-6026-152C-0E4B7DCEFD66}"/>
              </a:ext>
            </a:extLst>
          </p:cNvPr>
          <p:cNvSpPr/>
          <p:nvPr/>
        </p:nvSpPr>
        <p:spPr>
          <a:xfrm>
            <a:off x="-390012" y="-19987"/>
            <a:ext cx="7161200" cy="637825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4CDA257B-2B98-B479-8C9F-C529C753A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781" y="617838"/>
            <a:ext cx="5777439" cy="614448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E6B737-BDB9-E5D6-FF8B-BF5B7E0BC2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b="1" smtClean="0"/>
              <a:pPr/>
              <a:t>3</a:t>
            </a:fld>
            <a:endParaRPr lang="en" b="1" dirty="0"/>
          </a:p>
        </p:txBody>
      </p:sp>
    </p:spTree>
    <p:extLst>
      <p:ext uri="{BB962C8B-B14F-4D97-AF65-F5344CB8AC3E}">
        <p14:creationId xmlns:p14="http://schemas.microsoft.com/office/powerpoint/2010/main" val="190234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D794F672-A626-80C4-84CB-DB0E107D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19EFB-0F60-32CD-1F55-318CF24AF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154" y="884518"/>
            <a:ext cx="11561247" cy="5207316"/>
          </a:xfrm>
        </p:spPr>
        <p:txBody>
          <a:bodyPr>
            <a:normAutofit fontScale="92500" lnSpcReduction="10000"/>
          </a:bodyPr>
          <a:lstStyle/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Develop reliable nitrogen-classification models</a:t>
            </a:r>
            <a:br>
              <a:rPr lang="en-IN" sz="2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Distinguish N1 (low N) and N2 (high N) treatments using full-leaf and pixel-level hyperspectral features.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Validate a multi-scale hyperspectral analysis framework</a:t>
            </a:r>
            <a:br>
              <a:rPr lang="en-IN" sz="2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Compare leaf-level spectra, vegetation indices, PCA features, pixel-level classifiers, and autoencoder embeddings.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spectral biomarkers of nitrogen stress</a:t>
            </a:r>
            <a:br>
              <a:rPr lang="en-IN" sz="2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wavelengths, indices (NDVI, OCAR), and spectral derivatives most sensitive to nitrogen variation.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Quantify anatomical region-specific responses</a:t>
            </a:r>
            <a:br>
              <a:rPr lang="en-IN" sz="2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Evaluate how veins, midrib, mesophyll, edges, and tips differ in spectral and nitrogen-probability behaviour.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Benchmark classical indices vs machine-learning models</a:t>
            </a:r>
            <a:br>
              <a:rPr lang="en-IN" sz="2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Compare NDVI/OCAR with logistic regression, SVM, random forest, PLS-DA, and PCA-based classifiers.</a:t>
            </a:r>
          </a:p>
        </p:txBody>
      </p:sp>
      <p:sp>
        <p:nvSpPr>
          <p:cNvPr id="132" name="Google Shape;132;p20">
            <a:extLst>
              <a:ext uri="{FF2B5EF4-FFF2-40B4-BE49-F238E27FC236}">
                <a16:creationId xmlns:a16="http://schemas.microsoft.com/office/drawing/2014/main" id="{8E80F5BC-0F44-F48E-7FEE-9AA0C31B85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 b="1">
                <a:solidFill>
                  <a:schemeClr val="dk2"/>
                </a:solidFill>
              </a:rPr>
              <a:pPr/>
              <a:t>4</a:t>
            </a:fld>
            <a:endParaRPr b="1" dirty="0">
              <a:solidFill>
                <a:schemeClr val="dk2"/>
              </a:solidFill>
            </a:endParaRPr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4A7E7EE4-6F88-5637-FD8A-E53363DC3C1A}"/>
              </a:ext>
            </a:extLst>
          </p:cNvPr>
          <p:cNvSpPr/>
          <p:nvPr/>
        </p:nvSpPr>
        <p:spPr>
          <a:xfrm>
            <a:off x="-390012" y="-19987"/>
            <a:ext cx="7161200" cy="765600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</a:rPr>
              <a:t>Objectives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646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8F4D92FA-A9E9-7EC2-BA0B-3112B4BF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7CA55-D4AB-D1A9-7161-018A3C91D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13112" y="493295"/>
            <a:ext cx="6607399" cy="599680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40 hyperspectral corn leaf images</a:t>
            </a:r>
            <a:b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 (224 × 1111 pixels × 364 spectral bands, 400–1000 nm).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Treatments:</a:t>
            </a: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N1 (Low Nitrogen) vs. N2 (High Nitrogen), 20 leaves each.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Segmentation:</a:t>
            </a: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7 anatomical region masks</a:t>
            </a:r>
            <a:b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 – Leaf (whole leaf)</a:t>
            </a:r>
            <a:b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 – Clean leaf</a:t>
            </a:r>
            <a:b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 – Veins</a:t>
            </a:r>
            <a:b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 – Midrib</a:t>
            </a:r>
            <a:b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 – Mesophyll</a:t>
            </a:r>
            <a:b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 – Leaf edge</a:t>
            </a:r>
            <a:b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 – Leaf tip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Vegetation Indices:</a:t>
            </a:r>
            <a:b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 – </a:t>
            </a:r>
            <a:r>
              <a:rPr lang="en-I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NDVI</a:t>
            </a: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(NIR–Red / </a:t>
            </a:r>
            <a:r>
              <a:rPr lang="en-IN" sz="16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NIR+Red</a:t>
            </a: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 – </a:t>
            </a:r>
            <a:r>
              <a:rPr lang="en-I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OCAR</a:t>
            </a: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R700 – R670 / R700</a:t>
            </a: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), chlorophyll-sensitive.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Pixel-level modelling:</a:t>
            </a:r>
            <a:b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 PCA compression → Logistic Regression classifier for P(N2).</a:t>
            </a:r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26DB7F57-5FA5-801C-0B66-5BDAD7AF5198}"/>
              </a:ext>
            </a:extLst>
          </p:cNvPr>
          <p:cNvSpPr/>
          <p:nvPr/>
        </p:nvSpPr>
        <p:spPr>
          <a:xfrm>
            <a:off x="-390012" y="-19987"/>
            <a:ext cx="7161200" cy="637825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</a:rPr>
              <a:t>Materials and Methods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5C06AC11-CAAF-3D92-061B-4C6DA6D4C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37600"/>
            <a:ext cx="5932211" cy="564863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BE967-E9B2-C8B2-CFD2-596165F32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b="1" smtClean="0"/>
              <a:pPr/>
              <a:t>5</a:t>
            </a:fld>
            <a:endParaRPr lang="en" b="1" dirty="0"/>
          </a:p>
        </p:txBody>
      </p:sp>
    </p:spTree>
    <p:extLst>
      <p:ext uri="{BB962C8B-B14F-4D97-AF65-F5344CB8AC3E}">
        <p14:creationId xmlns:p14="http://schemas.microsoft.com/office/powerpoint/2010/main" val="3006296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7"/>
          <p:cNvSpPr txBox="1"/>
          <p:nvPr/>
        </p:nvSpPr>
        <p:spPr>
          <a:xfrm>
            <a:off x="548587" y="620849"/>
            <a:ext cx="5407369" cy="224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evaluate two nitrogen-sensitive vegetation indices:</a:t>
            </a:r>
            <a:b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048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200"/>
              <a:buChar char="●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NDVI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(NIR − Red) / (NIR + Red)</a:t>
            </a:r>
            <a:b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04800">
              <a:lnSpc>
                <a:spcPct val="115000"/>
              </a:lnSpc>
              <a:buClr>
                <a:schemeClr val="dk1"/>
              </a:buClr>
              <a:buSzPts val="1200"/>
              <a:buChar char="●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OCAR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(R700 − R670) / R700</a:t>
            </a:r>
            <a:b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(exact formula)</a:t>
            </a:r>
            <a:br>
              <a:rPr lang="en-US" sz="16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07" name="Google Shape;80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965" y="2862900"/>
            <a:ext cx="9932985" cy="3154841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77"/>
          <p:cNvSpPr txBox="1"/>
          <p:nvPr/>
        </p:nvSpPr>
        <p:spPr>
          <a:xfrm>
            <a:off x="6236046" y="719702"/>
            <a:ext cx="4707971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b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Compare index-based binary classification vs. ground truth labels (N1 / N2)</a:t>
            </a:r>
            <a:b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Determine if indices alone can separate nitrogen treatments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5CFAC5-D887-83CC-18A0-4C9AF15E7E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b="1" smtClean="0">
                <a:solidFill>
                  <a:schemeClr val="tx1"/>
                </a:solidFill>
              </a:rPr>
              <a:pPr/>
              <a:t>6</a:t>
            </a:fld>
            <a:endParaRPr 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9"/>
          <p:cNvSpPr txBox="1"/>
          <p:nvPr/>
        </p:nvSpPr>
        <p:spPr>
          <a:xfrm>
            <a:off x="617838" y="1025611"/>
            <a:ext cx="4360737" cy="730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35714"/>
              </a:lnSpc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NDVI and OCAR show statistically significant differences between N1 (low-N)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N2 (high-N) treatments at the whole-leaf level (p &lt; 0.0001).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nitrogen increases chlorophyll concentration, resulting in stronger red-band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absorption and therefore lower NDVI values for N2 leaves.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Vegetation indices can detect nitrogen-related changes,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pixel-level variability indicates the need for more powerful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🔜 multivariate machine learning models.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</a:pPr>
            <a:endParaRPr sz="1200" dirty="0">
              <a:solidFill>
                <a:srgbClr val="CCCCCC"/>
              </a:solidFill>
              <a:highlight>
                <a:srgbClr val="1F1F1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>
              <a:lnSpc>
                <a:spcPct val="135714"/>
              </a:lnSpc>
            </a:pPr>
            <a:endParaRPr sz="1200" dirty="0">
              <a:solidFill>
                <a:srgbClr val="CCCCCC"/>
              </a:solidFill>
              <a:highlight>
                <a:srgbClr val="1F1F1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5714"/>
              </a:lnSpc>
              <a:spcBef>
                <a:spcPts val="1200"/>
              </a:spcBef>
            </a:pPr>
            <a:endParaRPr sz="1200" dirty="0">
              <a:solidFill>
                <a:srgbClr val="CCCCCC"/>
              </a:solidFill>
              <a:highlight>
                <a:srgbClr val="1F1F1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22" name="Google Shape;82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926" y="738689"/>
            <a:ext cx="3082975" cy="246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5926" y="3536912"/>
            <a:ext cx="3009450" cy="2420118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9"/>
          <p:cNvSpPr/>
          <p:nvPr/>
        </p:nvSpPr>
        <p:spPr>
          <a:xfrm rot="482">
            <a:off x="4937450" y="1304250"/>
            <a:ext cx="2138400" cy="1331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endParaRPr sz="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mean_ndvi_leaf: N1 vs N2</a:t>
            </a:r>
            <a:b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100">
                <a:solidFill>
                  <a:schemeClr val="dk1"/>
                </a:solidFill>
              </a:rPr>
              <a:t>  t = +4.972, p = 0.0000 </a:t>
            </a:r>
            <a:endParaRPr sz="1100">
              <a:solidFill>
                <a:schemeClr val="dk1"/>
              </a:solidFill>
            </a:endParaRPr>
          </a:p>
          <a:p>
            <a:pPr algn="ctr">
              <a:spcBef>
                <a:spcPts val="1200"/>
              </a:spcBef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25" name="Google Shape;825;p79"/>
          <p:cNvSpPr/>
          <p:nvPr/>
        </p:nvSpPr>
        <p:spPr>
          <a:xfrm>
            <a:off x="4937450" y="4115175"/>
            <a:ext cx="2138400" cy="126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mean_ocar_leaf: N1 vs N2</a:t>
            </a:r>
            <a:b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100">
                <a:solidFill>
                  <a:schemeClr val="dk1"/>
                </a:solidFill>
              </a:rPr>
              <a:t>  t = +4.837, p = 0.0000 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F23C20-28D9-3CAB-EC40-FA019EBE0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b="1" smtClean="0">
                <a:solidFill>
                  <a:schemeClr val="tx1"/>
                </a:solidFill>
              </a:rPr>
              <a:pPr/>
              <a:t>7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Google Shape;133;p20">
            <a:extLst>
              <a:ext uri="{FF2B5EF4-FFF2-40B4-BE49-F238E27FC236}">
                <a16:creationId xmlns:a16="http://schemas.microsoft.com/office/drawing/2014/main" id="{CE807759-8C73-F065-A613-0CCA9B7AC237}"/>
              </a:ext>
            </a:extLst>
          </p:cNvPr>
          <p:cNvSpPr/>
          <p:nvPr/>
        </p:nvSpPr>
        <p:spPr>
          <a:xfrm>
            <a:off x="-390012" y="-19987"/>
            <a:ext cx="7161200" cy="637825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Results and Discussion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896" y="828015"/>
            <a:ext cx="4302975" cy="3533919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80"/>
          <p:cNvSpPr txBox="1"/>
          <p:nvPr/>
        </p:nvSpPr>
        <p:spPr>
          <a:xfrm>
            <a:off x="815546" y="4224499"/>
            <a:ext cx="9205154" cy="1637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only NDVI and OCAR at the leaf level, a simple classifier already achieved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92% accuracy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separating low-N (N1) and high-N (N2) leaves. This confirms that nitrogen differences are clearly detectable in spectral indices.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Next, we move beyond leaf-level averages to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pixel-level machine learning models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P(N2) spatial maps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finer nitrogen stress detection.</a:t>
            </a: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4" name="Google Shape;83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546" y="1176869"/>
            <a:ext cx="4302975" cy="29132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3;p20">
            <a:extLst>
              <a:ext uri="{FF2B5EF4-FFF2-40B4-BE49-F238E27FC236}">
                <a16:creationId xmlns:a16="http://schemas.microsoft.com/office/drawing/2014/main" id="{E587ECE3-FC14-B1D8-240E-2C33BC517235}"/>
              </a:ext>
            </a:extLst>
          </p:cNvPr>
          <p:cNvSpPr/>
          <p:nvPr/>
        </p:nvSpPr>
        <p:spPr>
          <a:xfrm>
            <a:off x="-390012" y="-19987"/>
            <a:ext cx="7161200" cy="637825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Index-based Classifier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9BD9C8-5872-750D-9591-869B35A74D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b="1" smtClean="0">
                <a:solidFill>
                  <a:schemeClr val="tx1"/>
                </a:solidFill>
              </a:rPr>
              <a:pPr/>
              <a:t>8</a:t>
            </a:fld>
            <a:endParaRPr 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81"/>
          <p:cNvSpPr txBox="1"/>
          <p:nvPr/>
        </p:nvSpPr>
        <p:spPr>
          <a:xfrm>
            <a:off x="696869" y="969466"/>
            <a:ext cx="83490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mean reflectance spectrum per leaf (masked leaf pixels).</a:t>
            </a:r>
            <a:b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with 3 components on matrix of shape </a:t>
            </a:r>
            <a:r>
              <a:rPr lang="en-US" sz="16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n_leaves</a:t>
            </a:r>
            <a:r>
              <a:rPr lang="en-US" sz="16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n_bands</a:t>
            </a:r>
            <a:r>
              <a:rPr lang="en-US" sz="1600" i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PC1–PC2 scores colored by nitrogen treatment (N1 vs N2).</a:t>
            </a:r>
            <a:b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PC1 loading highlights key wavelength regions (red and red-edge bands).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42" name="Google Shape;842;p81"/>
          <p:cNvPicPr preferRelativeResize="0"/>
          <p:nvPr/>
        </p:nvPicPr>
        <p:blipFill>
          <a:blip r:embed="rId3">
            <a:alphaModFix/>
          </a:blip>
          <a:srcRect b="1793"/>
          <a:stretch>
            <a:fillRect/>
          </a:stretch>
        </p:blipFill>
        <p:spPr>
          <a:xfrm>
            <a:off x="696869" y="2862435"/>
            <a:ext cx="4359551" cy="3175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81"/>
          <p:cNvPicPr preferRelativeResize="0"/>
          <p:nvPr/>
        </p:nvPicPr>
        <p:blipFill>
          <a:blip r:embed="rId4">
            <a:alphaModFix/>
          </a:blip>
          <a:srcRect r="969"/>
          <a:stretch>
            <a:fillRect/>
          </a:stretch>
        </p:blipFill>
        <p:spPr>
          <a:xfrm>
            <a:off x="6001743" y="3028459"/>
            <a:ext cx="4250866" cy="2709266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81"/>
          <p:cNvSpPr txBox="1"/>
          <p:nvPr/>
        </p:nvSpPr>
        <p:spPr>
          <a:xfrm>
            <a:off x="7327232" y="1120275"/>
            <a:ext cx="4410074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Spectra matrix shape: (40, 364)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PCA explained variance (%):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PC1=83.0%, PC2=16.2%, PC3=0.6%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33;p20">
            <a:extLst>
              <a:ext uri="{FF2B5EF4-FFF2-40B4-BE49-F238E27FC236}">
                <a16:creationId xmlns:a16="http://schemas.microsoft.com/office/drawing/2014/main" id="{544DC848-E2C4-3ABC-2962-30F065FAC68A}"/>
              </a:ext>
            </a:extLst>
          </p:cNvPr>
          <p:cNvSpPr/>
          <p:nvPr/>
        </p:nvSpPr>
        <p:spPr>
          <a:xfrm>
            <a:off x="-390012" y="-19987"/>
            <a:ext cx="7717244" cy="637825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Leaf-Level PCA of Mean Spectra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24DF9A-285A-8F01-BB88-3716439C0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b="1" smtClean="0">
                <a:solidFill>
                  <a:schemeClr val="tx1"/>
                </a:solidFill>
              </a:rPr>
              <a:pPr/>
              <a:t>9</a:t>
            </a:fld>
            <a:endParaRPr 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4"/>
          <p:cNvSpPr txBox="1"/>
          <p:nvPr/>
        </p:nvSpPr>
        <p:spPr>
          <a:xfrm>
            <a:off x="345675" y="1206773"/>
            <a:ext cx="5077200" cy="3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200" dirty="0">
                <a:solidFill>
                  <a:schemeClr val="dk1"/>
                </a:solidFill>
              </a:rPr>
              <a:t>Features used:</a:t>
            </a:r>
            <a:endParaRPr sz="1200" dirty="0">
              <a:solidFill>
                <a:schemeClr val="dk1"/>
              </a:solidFill>
            </a:endParaRPr>
          </a:p>
          <a:p>
            <a:pPr marL="457200" indent="-3048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200"/>
              <a:buChar char="●"/>
            </a:pPr>
            <a:r>
              <a:rPr lang="en-US" sz="1200" dirty="0" err="1">
                <a:solidFill>
                  <a:schemeClr val="dk1"/>
                </a:solidFill>
              </a:rPr>
              <a:t>mean_NDVI_leaf</a:t>
            </a:r>
            <a:br>
              <a:rPr lang="en-US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indent="-304800">
              <a:lnSpc>
                <a:spcPct val="115000"/>
              </a:lnSpc>
              <a:buClr>
                <a:schemeClr val="dk1"/>
              </a:buClr>
              <a:buSzPts val="1200"/>
              <a:buChar char="●"/>
            </a:pPr>
            <a:r>
              <a:rPr lang="en-US" sz="1200" dirty="0" err="1">
                <a:solidFill>
                  <a:schemeClr val="dk1"/>
                </a:solidFill>
              </a:rPr>
              <a:t>mean_OCAR_leaf</a:t>
            </a:r>
            <a:br>
              <a:rPr lang="en-US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indent="-304800">
              <a:lnSpc>
                <a:spcPct val="115000"/>
              </a:lnSpc>
              <a:buClr>
                <a:schemeClr val="dk1"/>
              </a:buClr>
              <a:buSzPts val="1200"/>
              <a:buChar char="●"/>
            </a:pPr>
            <a:r>
              <a:rPr lang="en-US" sz="1200" dirty="0" err="1">
                <a:solidFill>
                  <a:schemeClr val="dk1"/>
                </a:solidFill>
              </a:rPr>
              <a:t>refl</a:t>
            </a:r>
            <a:r>
              <a:rPr lang="en-US" sz="1200" dirty="0">
                <a:solidFill>
                  <a:schemeClr val="dk1"/>
                </a:solidFill>
              </a:rPr>
              <a:t>(550 nm), </a:t>
            </a:r>
            <a:r>
              <a:rPr lang="en-US" sz="1200" dirty="0" err="1">
                <a:solidFill>
                  <a:schemeClr val="dk1"/>
                </a:solidFill>
              </a:rPr>
              <a:t>refl</a:t>
            </a:r>
            <a:r>
              <a:rPr lang="en-US" sz="1200" dirty="0">
                <a:solidFill>
                  <a:schemeClr val="dk1"/>
                </a:solidFill>
              </a:rPr>
              <a:t>(680 nm), </a:t>
            </a:r>
            <a:r>
              <a:rPr lang="en-US" sz="1200" dirty="0" err="1">
                <a:solidFill>
                  <a:schemeClr val="dk1"/>
                </a:solidFill>
              </a:rPr>
              <a:t>refl</a:t>
            </a:r>
            <a:r>
              <a:rPr lang="en-US" sz="1200" dirty="0">
                <a:solidFill>
                  <a:schemeClr val="dk1"/>
                </a:solidFill>
              </a:rPr>
              <a:t>(800 nm)</a:t>
            </a:r>
            <a:br>
              <a:rPr lang="en-US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1200" dirty="0">
                <a:solidFill>
                  <a:schemeClr val="dk1"/>
                </a:solidFill>
              </a:rPr>
              <a:t>Models evaluated with 5-fold CV:</a:t>
            </a:r>
            <a:endParaRPr sz="1200" dirty="0">
              <a:solidFill>
                <a:schemeClr val="dk1"/>
              </a:solidFill>
            </a:endParaRPr>
          </a:p>
          <a:p>
            <a:pPr marL="457200" indent="-3048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2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Logistic Regression → </a:t>
            </a:r>
            <a:r>
              <a:rPr lang="en-US" sz="1200" b="1" dirty="0">
                <a:solidFill>
                  <a:schemeClr val="dk1"/>
                </a:solidFill>
              </a:rPr>
              <a:t>0.80 ± 0.06</a:t>
            </a:r>
            <a:br>
              <a:rPr lang="en-US" sz="1200" b="1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457200" indent="-304800">
              <a:lnSpc>
                <a:spcPct val="115000"/>
              </a:lnSpc>
              <a:buClr>
                <a:schemeClr val="dk1"/>
              </a:buClr>
              <a:buSzPts val="12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SVM (RBF) → </a:t>
            </a:r>
            <a:r>
              <a:rPr lang="en-US" sz="1200" b="1" dirty="0">
                <a:solidFill>
                  <a:schemeClr val="dk1"/>
                </a:solidFill>
              </a:rPr>
              <a:t>0.85 ± 0.09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i="1" dirty="0">
                <a:solidFill>
                  <a:schemeClr val="dk1"/>
                </a:solidFill>
              </a:rPr>
              <a:t>(best CV mean)</a:t>
            </a:r>
            <a:br>
              <a:rPr lang="en-US" sz="1200" i="1" dirty="0">
                <a:solidFill>
                  <a:schemeClr val="dk1"/>
                </a:solidFill>
              </a:rPr>
            </a:br>
            <a:endParaRPr sz="1200" i="1" dirty="0">
              <a:solidFill>
                <a:schemeClr val="dk1"/>
              </a:solidFill>
            </a:endParaRPr>
          </a:p>
          <a:p>
            <a:pPr marL="457200" indent="-304800">
              <a:lnSpc>
                <a:spcPct val="115000"/>
              </a:lnSpc>
              <a:buClr>
                <a:schemeClr val="dk1"/>
              </a:buClr>
              <a:buSzPts val="12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Random Forest → </a:t>
            </a:r>
            <a:r>
              <a:rPr lang="en-US" sz="1200" b="1" dirty="0">
                <a:solidFill>
                  <a:schemeClr val="dk1"/>
                </a:solidFill>
              </a:rPr>
              <a:t>0.80 ± 0.13</a:t>
            </a:r>
            <a:br>
              <a:rPr lang="en-US" sz="1200" b="1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457200" indent="-304800">
              <a:lnSpc>
                <a:spcPct val="115000"/>
              </a:lnSpc>
              <a:buClr>
                <a:schemeClr val="dk1"/>
              </a:buClr>
              <a:buSzPts val="12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PLS-DA → </a:t>
            </a:r>
            <a:r>
              <a:rPr lang="en-US" sz="1200" b="1" dirty="0">
                <a:solidFill>
                  <a:schemeClr val="dk1"/>
                </a:solidFill>
              </a:rPr>
              <a:t>0.70% test</a:t>
            </a:r>
            <a:r>
              <a:rPr lang="en-US" sz="1200" dirty="0">
                <a:solidFill>
                  <a:schemeClr val="dk1"/>
                </a:solidFill>
              </a:rPr>
              <a:t>, </a:t>
            </a:r>
            <a:r>
              <a:rPr lang="en-US" sz="1200" b="1" dirty="0">
                <a:solidFill>
                  <a:schemeClr val="dk1"/>
                </a:solidFill>
              </a:rPr>
              <a:t>0.80% CV</a:t>
            </a:r>
            <a:br>
              <a:rPr lang="en-US" sz="1200" b="1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</p:txBody>
      </p:sp>
      <p:sp>
        <p:nvSpPr>
          <p:cNvPr id="866" name="Google Shape;866;p84"/>
          <p:cNvSpPr txBox="1"/>
          <p:nvPr/>
        </p:nvSpPr>
        <p:spPr>
          <a:xfrm>
            <a:off x="4101075" y="1206773"/>
            <a:ext cx="3000000" cy="1612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chemeClr val="dk1"/>
                </a:solidFill>
              </a:rPr>
              <a:t>ROC-AUC values:</a:t>
            </a:r>
            <a:endParaRPr sz="1200" dirty="0">
              <a:solidFill>
                <a:schemeClr val="dk1"/>
              </a:solidFill>
            </a:endParaRPr>
          </a:p>
          <a:p>
            <a:pPr marL="457200" indent="-3048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200"/>
              <a:buChar char="●"/>
            </a:pPr>
            <a:r>
              <a:rPr lang="en-US" sz="1200" b="1" dirty="0" err="1">
                <a:solidFill>
                  <a:schemeClr val="dk1"/>
                </a:solidFill>
              </a:rPr>
              <a:t>LogReg</a:t>
            </a:r>
            <a:r>
              <a:rPr lang="en-US" sz="1200" b="1" dirty="0">
                <a:solidFill>
                  <a:schemeClr val="dk1"/>
                </a:solidFill>
              </a:rPr>
              <a:t>: 0.96</a:t>
            </a:r>
            <a:br>
              <a:rPr lang="en-US" sz="1200" b="1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457200" indent="-304800">
              <a:lnSpc>
                <a:spcPct val="115000"/>
              </a:lnSpc>
              <a:buClr>
                <a:schemeClr val="dk1"/>
              </a:buClr>
              <a:buSzPts val="1200"/>
              <a:buChar char="●"/>
            </a:pPr>
            <a:r>
              <a:rPr lang="en-US" sz="1200" b="1" dirty="0">
                <a:solidFill>
                  <a:schemeClr val="dk1"/>
                </a:solidFill>
              </a:rPr>
              <a:t>PLS-DA: 0.88</a:t>
            </a:r>
            <a:br>
              <a:rPr lang="en-US" sz="1200" b="1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457200" indent="-304800">
              <a:lnSpc>
                <a:spcPct val="115000"/>
              </a:lnSpc>
              <a:buClr>
                <a:schemeClr val="dk1"/>
              </a:buClr>
              <a:buSzPts val="1200"/>
              <a:buChar char="●"/>
            </a:pPr>
            <a:r>
              <a:rPr lang="en-US" sz="1200" b="1" dirty="0">
                <a:solidFill>
                  <a:schemeClr val="dk1"/>
                </a:solidFill>
              </a:rPr>
              <a:t>SVM: 0.72</a:t>
            </a:r>
            <a:endParaRPr sz="1200" b="1" dirty="0">
              <a:solidFill>
                <a:schemeClr val="dk1"/>
              </a:solidFill>
            </a:endParaRPr>
          </a:p>
        </p:txBody>
      </p:sp>
      <p:sp>
        <p:nvSpPr>
          <p:cNvPr id="867" name="Google Shape;867;p84"/>
          <p:cNvSpPr txBox="1"/>
          <p:nvPr/>
        </p:nvSpPr>
        <p:spPr>
          <a:xfrm>
            <a:off x="345675" y="5131285"/>
            <a:ext cx="3324282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US" sz="1200" dirty="0"/>
              <a:t>All models separate N conditions well, with SVM showing highest CV accuracy and Logistic Regression delivering best AUC.</a:t>
            </a:r>
            <a:endParaRPr sz="1200" dirty="0"/>
          </a:p>
        </p:txBody>
      </p:sp>
      <p:pic>
        <p:nvPicPr>
          <p:cNvPr id="868" name="Google Shape;86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273" y="2905989"/>
            <a:ext cx="3611604" cy="2964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graph of a positive rate&#10;&#10;AI-generated content may be incorrect.">
            <a:extLst>
              <a:ext uri="{FF2B5EF4-FFF2-40B4-BE49-F238E27FC236}">
                <a16:creationId xmlns:a16="http://schemas.microsoft.com/office/drawing/2014/main" id="{8AA17788-AE85-7D0F-4539-1F08D65C9B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762"/>
          <a:stretch>
            <a:fillRect/>
          </a:stretch>
        </p:blipFill>
        <p:spPr>
          <a:xfrm>
            <a:off x="7910021" y="3201623"/>
            <a:ext cx="3695470" cy="2804096"/>
          </a:xfrm>
          <a:prstGeom prst="rect">
            <a:avLst/>
          </a:prstGeom>
        </p:spPr>
      </p:pic>
      <p:pic>
        <p:nvPicPr>
          <p:cNvPr id="5" name="Picture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CFD217D3-8E6F-AA28-BBCF-BC50C42D9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193" y="334385"/>
            <a:ext cx="3899823" cy="2857033"/>
          </a:xfrm>
          <a:prstGeom prst="rect">
            <a:avLst/>
          </a:prstGeom>
        </p:spPr>
      </p:pic>
      <p:sp>
        <p:nvSpPr>
          <p:cNvPr id="6" name="Google Shape;133;p20">
            <a:extLst>
              <a:ext uri="{FF2B5EF4-FFF2-40B4-BE49-F238E27FC236}">
                <a16:creationId xmlns:a16="http://schemas.microsoft.com/office/drawing/2014/main" id="{7890FE84-BB12-7CEE-8388-D27ECF7C4AD5}"/>
              </a:ext>
            </a:extLst>
          </p:cNvPr>
          <p:cNvSpPr/>
          <p:nvPr/>
        </p:nvSpPr>
        <p:spPr>
          <a:xfrm>
            <a:off x="-390013" y="-19987"/>
            <a:ext cx="7922205" cy="637825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Leaf-Level ML model Comparison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7150FE-1DB5-F479-C631-97C6A22E7E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b="1" smtClean="0">
                <a:solidFill>
                  <a:schemeClr val="tx1"/>
                </a:solidFill>
              </a:rPr>
              <a:pPr/>
              <a:t>10</a:t>
            </a:fld>
            <a:endParaRPr 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63">
          <a:extLst>
            <a:ext uri="{FF2B5EF4-FFF2-40B4-BE49-F238E27FC236}">
              <a16:creationId xmlns:a16="http://schemas.microsoft.com/office/drawing/2014/main" id="{9D6677E8-F4F1-4490-E3F5-0806464EA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4">
            <a:extLst>
              <a:ext uri="{FF2B5EF4-FFF2-40B4-BE49-F238E27FC236}">
                <a16:creationId xmlns:a16="http://schemas.microsoft.com/office/drawing/2014/main" id="{FE99C09E-2DE4-3DEB-B747-A2EA451B060A}"/>
              </a:ext>
            </a:extLst>
          </p:cNvPr>
          <p:cNvSpPr txBox="1"/>
          <p:nvPr/>
        </p:nvSpPr>
        <p:spPr>
          <a:xfrm>
            <a:off x="345673" y="869888"/>
            <a:ext cx="5910747" cy="535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Pixel-Level Accuracy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classifier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trained on PCA-compressed pixel spectra achieves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~88% accuracy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distinguishing N1 vs N2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pixel level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Heterogeneity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Pixel-wise nitrogen probability heatmaps reveal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within-leaf variation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zones with consistently higher or lower predicted N status.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Gradient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profiling shows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decline in nitrogen probability from the leaf base to the tip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clear vertical physiological gradient.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Anatomical Patterns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Veins and midrib regions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exhibit spectral signatures that differ noticeably from 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mesophyll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confirming tissue-specific nitrogen responses.</a:t>
            </a:r>
            <a:endParaRPr sz="1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33;p20">
            <a:extLst>
              <a:ext uri="{FF2B5EF4-FFF2-40B4-BE49-F238E27FC236}">
                <a16:creationId xmlns:a16="http://schemas.microsoft.com/office/drawing/2014/main" id="{0ADBD98E-2761-7BB3-B102-213B3467C1C8}"/>
              </a:ext>
            </a:extLst>
          </p:cNvPr>
          <p:cNvSpPr/>
          <p:nvPr/>
        </p:nvSpPr>
        <p:spPr>
          <a:xfrm>
            <a:off x="-390013" y="-19987"/>
            <a:ext cx="7922205" cy="637825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Pixel Level Analysis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 graph and chart with a graph and a diagram&#10;&#10;AI-generated content may be incorrect.">
            <a:extLst>
              <a:ext uri="{FF2B5EF4-FFF2-40B4-BE49-F238E27FC236}">
                <a16:creationId xmlns:a16="http://schemas.microsoft.com/office/drawing/2014/main" id="{0F118231-2160-6C84-1ADA-C55DCC1649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8"/>
          <a:stretch>
            <a:fillRect/>
          </a:stretch>
        </p:blipFill>
        <p:spPr>
          <a:xfrm>
            <a:off x="6256420" y="936539"/>
            <a:ext cx="5751096" cy="528863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3A0E37-EE7E-4062-4D82-BE04215C4E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b="1" smtClean="0">
                <a:solidFill>
                  <a:schemeClr val="tx1"/>
                </a:solidFill>
              </a:rPr>
              <a:pPr/>
              <a:t>11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136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63">
          <a:extLst>
            <a:ext uri="{FF2B5EF4-FFF2-40B4-BE49-F238E27FC236}">
              <a16:creationId xmlns:a16="http://schemas.microsoft.com/office/drawing/2014/main" id="{847CEC1F-9A3F-575B-FF9E-3C1AD701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3;p20">
            <a:extLst>
              <a:ext uri="{FF2B5EF4-FFF2-40B4-BE49-F238E27FC236}">
                <a16:creationId xmlns:a16="http://schemas.microsoft.com/office/drawing/2014/main" id="{76F165A6-B222-AAB8-78EE-D59751E25788}"/>
              </a:ext>
            </a:extLst>
          </p:cNvPr>
          <p:cNvSpPr/>
          <p:nvPr/>
        </p:nvSpPr>
        <p:spPr>
          <a:xfrm>
            <a:off x="-390012" y="-19987"/>
            <a:ext cx="6296138" cy="637825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Unsupervised Clustering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 descr="A screen shot of a graph&#10;&#10;AI-generated content may be incorrect.">
            <a:extLst>
              <a:ext uri="{FF2B5EF4-FFF2-40B4-BE49-F238E27FC236}">
                <a16:creationId xmlns:a16="http://schemas.microsoft.com/office/drawing/2014/main" id="{D11791C9-A818-B4AE-108C-17C70B529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21" t="33279" r="12637"/>
          <a:stretch>
            <a:fillRect/>
          </a:stretch>
        </p:blipFill>
        <p:spPr>
          <a:xfrm>
            <a:off x="1947039" y="758626"/>
            <a:ext cx="6961434" cy="553180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EFB0B8-DC2F-B6E8-D802-DD7EA6583A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b="1" smtClean="0">
                <a:solidFill>
                  <a:schemeClr val="tx1"/>
                </a:solidFill>
              </a:rPr>
              <a:pPr/>
              <a:t>12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026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63">
          <a:extLst>
            <a:ext uri="{FF2B5EF4-FFF2-40B4-BE49-F238E27FC236}">
              <a16:creationId xmlns:a16="http://schemas.microsoft.com/office/drawing/2014/main" id="{5AD6EFB3-32A8-1194-2444-09170152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4">
            <a:extLst>
              <a:ext uri="{FF2B5EF4-FFF2-40B4-BE49-F238E27FC236}">
                <a16:creationId xmlns:a16="http://schemas.microsoft.com/office/drawing/2014/main" id="{34531FDE-9F40-4111-2C49-8D3FF9B0143C}"/>
              </a:ext>
            </a:extLst>
          </p:cNvPr>
          <p:cNvSpPr txBox="1"/>
          <p:nvPr/>
        </p:nvSpPr>
        <p:spPr>
          <a:xfrm>
            <a:off x="185253" y="688103"/>
            <a:ext cx="6492273" cy="560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Success: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Nitrogen treatments were successfully separated at both leaf-level and pixel-level analysis.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Sensitivity: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red-edge region (≈680–750 nm) emerged as the most responsive spectral zone to nitrogen status.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Heterogeneity: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Pixel-level probability maps exposed within-leaf gradients invisible in average reflectance.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 Specificity: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Mesophyll and vein tissues showed distinctly different spectral responses, indicating localized physiological effects.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Validation: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Clustering and autoencoder embeddings independently revealed separable spectral signatures for N1 vs. N2 without using labels.</a:t>
            </a:r>
          </a:p>
        </p:txBody>
      </p:sp>
      <p:sp>
        <p:nvSpPr>
          <p:cNvPr id="6" name="Google Shape;133;p20">
            <a:extLst>
              <a:ext uri="{FF2B5EF4-FFF2-40B4-BE49-F238E27FC236}">
                <a16:creationId xmlns:a16="http://schemas.microsoft.com/office/drawing/2014/main" id="{6A0640ED-222B-1999-21BE-5702D46D6922}"/>
              </a:ext>
            </a:extLst>
          </p:cNvPr>
          <p:cNvSpPr/>
          <p:nvPr/>
        </p:nvSpPr>
        <p:spPr>
          <a:xfrm>
            <a:off x="-390013" y="-19987"/>
            <a:ext cx="7922205" cy="637825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934BFF93-E8FE-9CB9-DE34-20EC18E9A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969" y="688103"/>
            <a:ext cx="5037219" cy="58730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E89C4F-2985-4FDE-57E2-5A6171CA30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b="1" smtClean="0">
                <a:solidFill>
                  <a:schemeClr val="tx1"/>
                </a:solidFill>
              </a:rPr>
              <a:pPr/>
              <a:t>13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304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63">
          <a:extLst>
            <a:ext uri="{FF2B5EF4-FFF2-40B4-BE49-F238E27FC236}">
              <a16:creationId xmlns:a16="http://schemas.microsoft.com/office/drawing/2014/main" id="{2020244B-933B-0757-4C59-B0C5838D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4">
            <a:extLst>
              <a:ext uri="{FF2B5EF4-FFF2-40B4-BE49-F238E27FC236}">
                <a16:creationId xmlns:a16="http://schemas.microsoft.com/office/drawing/2014/main" id="{DC3D04BF-F7B6-A3A4-7C0E-08D9208E4DAB}"/>
              </a:ext>
            </a:extLst>
          </p:cNvPr>
          <p:cNvSpPr txBox="1"/>
          <p:nvPr/>
        </p:nvSpPr>
        <p:spPr>
          <a:xfrm>
            <a:off x="630422" y="997580"/>
            <a:ext cx="10414567" cy="49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Pixel-level classification achieved ~88% accuracy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distinguishing N1 (low-N) vs N2 (high-N) treatments, demonstrating strong nitrogen separability directly from hyperspectral spectra.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Leaf-level nitrogen scores clearly separated treatments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mean (P(N2)) significantly higher for N2 leaves than N1 leaves (p &lt; 0.01), confirming robustness at aggregated scales.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Red-edge wavelengths (≈680–750 nm)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the strongest treatment differences, with first-derivative spectra revealing a distinct N-response peak near ~720–740 nm.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gradient analysis showed a consistent decline in nitrogen probability from base → tip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up to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20–30% lower (P(N2))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tip regions—capturing fine-scale physiological gradients.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Anatomical region analysis revealed tissue specificity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mesophyll had significantly lower NDVI and N2 probability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veins and midrib (p &lt; 0.05), indicating spatially localized nitrogen effects.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clustering (K=3) recovered clear spectral zones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aligned with anatomical structures and showed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uniformity in N2 leaves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fragmented, heterogeneous clusters in N1 leaves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validating stress signatures even without labels.</a:t>
            </a:r>
          </a:p>
        </p:txBody>
      </p:sp>
      <p:sp>
        <p:nvSpPr>
          <p:cNvPr id="6" name="Google Shape;133;p20">
            <a:extLst>
              <a:ext uri="{FF2B5EF4-FFF2-40B4-BE49-F238E27FC236}">
                <a16:creationId xmlns:a16="http://schemas.microsoft.com/office/drawing/2014/main" id="{E1C6B091-87F6-DC86-3D19-0300766B639A}"/>
              </a:ext>
            </a:extLst>
          </p:cNvPr>
          <p:cNvSpPr/>
          <p:nvPr/>
        </p:nvSpPr>
        <p:spPr>
          <a:xfrm>
            <a:off x="-390013" y="-19987"/>
            <a:ext cx="7922205" cy="637825"/>
          </a:xfrm>
          <a:prstGeom prst="chevron">
            <a:avLst>
              <a:gd name="adj" fmla="val 50000"/>
            </a:avLst>
          </a:prstGeom>
          <a:solidFill>
            <a:srgbClr val="CEB88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en" sz="33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33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4F9C7E-CAF5-799F-99E3-97A73C924F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b="1" smtClean="0">
                <a:solidFill>
                  <a:schemeClr val="tx1"/>
                </a:solidFill>
              </a:rPr>
              <a:pPr/>
              <a:t>14</a:t>
            </a:fld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229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370D66-928C-5CBB-DEA4-ED242C359B48}"/>
              </a:ext>
            </a:extLst>
          </p:cNvPr>
          <p:cNvSpPr/>
          <p:nvPr/>
        </p:nvSpPr>
        <p:spPr>
          <a:xfrm>
            <a:off x="4289321" y="2967335"/>
            <a:ext cx="36133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you...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3427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4481</TotalTime>
  <Words>2994</Words>
  <Application>Microsoft Office PowerPoint</Application>
  <PresentationFormat>Widescreen</PresentationFormat>
  <Paragraphs>240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Libre Franklin</vt:lpstr>
      <vt:lpstr>Libre Franklin Medium</vt:lpstr>
      <vt:lpstr>Roboto Mono</vt:lpstr>
      <vt:lpstr>Times New Roman</vt:lpstr>
      <vt:lpstr>Wingdings</vt:lpstr>
      <vt:lpstr>Office Theme</vt:lpstr>
      <vt:lpstr>Hyperspectral Imaging for Nitrogen Status Classification in Corn Leaves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srmohapatra9348@outlook.com</dc:creator>
  <cp:lastModifiedBy>Jingbo Yue</cp:lastModifiedBy>
  <cp:revision>9</cp:revision>
  <dcterms:created xsi:type="dcterms:W3CDTF">2025-12-09T23:21:45Z</dcterms:created>
  <dcterms:modified xsi:type="dcterms:W3CDTF">2025-12-13T02:15:38Z</dcterms:modified>
</cp:coreProperties>
</file>